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Open Sauce Bold" panose="020B0604020202020204" charset="0"/>
      <p:regular r:id="rId7"/>
    </p:embeddedFont>
    <p:embeddedFont>
      <p:font typeface="Open Sauce Heavy" panose="020B0604020202020204" charset="0"/>
      <p:regular r:id="rId8"/>
    </p:embeddedFont>
    <p:embeddedFont>
      <p:font typeface="Proxima Nova Condensed Heavy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00" y="2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jpeg"/><Relationship Id="rId7" Type="http://schemas.openxmlformats.org/officeDocument/2006/relationships/image" Target="../media/image11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5.svg"/><Relationship Id="rId4" Type="http://schemas.openxmlformats.org/officeDocument/2006/relationships/image" Target="../media/image6.svg"/><Relationship Id="rId9" Type="http://schemas.openxmlformats.org/officeDocument/2006/relationships/hyperlink" Target="https://www.kaggle.com/code/arezoodahesh/customer-churn-with-oversampling-techniques/inpu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9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hyperlink" Target="https://www.kaggle.com/code/arezoodahesh/customer-churn-with-oversampling-techniques/input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6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22791" y="376931"/>
            <a:ext cx="7304131" cy="7476093"/>
            <a:chOff x="-433699" y="7986"/>
            <a:chExt cx="848969" cy="852038"/>
          </a:xfrm>
        </p:grpSpPr>
        <p:sp>
          <p:nvSpPr>
            <p:cNvPr id="3" name="Freeform 3"/>
            <p:cNvSpPr/>
            <p:nvPr/>
          </p:nvSpPr>
          <p:spPr>
            <a:xfrm>
              <a:off x="-433699" y="7986"/>
              <a:ext cx="848969" cy="852038"/>
            </a:xfrm>
            <a:custGeom>
              <a:avLst/>
              <a:gdLst/>
              <a:ahLst/>
              <a:cxnLst/>
              <a:rect l="l" t="t" r="r" b="b"/>
              <a:pathLst>
                <a:path w="848969" h="852038">
                  <a:moveTo>
                    <a:pt x="424484" y="0"/>
                  </a:moveTo>
                  <a:lnTo>
                    <a:pt x="848969" y="426019"/>
                  </a:lnTo>
                  <a:lnTo>
                    <a:pt x="424484" y="852038"/>
                  </a:lnTo>
                  <a:lnTo>
                    <a:pt x="0" y="426019"/>
                  </a:lnTo>
                  <a:lnTo>
                    <a:pt x="424484" y="0"/>
                  </a:lnTo>
                  <a:close/>
                </a:path>
              </a:pathLst>
            </a:custGeom>
            <a:blipFill>
              <a:blip r:embed="rId2"/>
              <a:stretch>
                <a:fillRect l="-25202" r="-2520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flipH="1">
            <a:off x="0" y="4183185"/>
            <a:ext cx="18288000" cy="6103815"/>
          </a:xfrm>
          <a:custGeom>
            <a:avLst/>
            <a:gdLst/>
            <a:ahLst/>
            <a:cxnLst/>
            <a:rect l="l" t="t" r="r" b="b"/>
            <a:pathLst>
              <a:path w="19035789" h="6852884">
                <a:moveTo>
                  <a:pt x="19035790" y="0"/>
                </a:moveTo>
                <a:lnTo>
                  <a:pt x="0" y="0"/>
                </a:lnTo>
                <a:lnTo>
                  <a:pt x="0" y="6852884"/>
                </a:lnTo>
                <a:lnTo>
                  <a:pt x="19035790" y="6852884"/>
                </a:lnTo>
                <a:lnTo>
                  <a:pt x="1903579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1" y="-1"/>
            <a:ext cx="3826755" cy="3903210"/>
          </a:xfrm>
          <a:custGeom>
            <a:avLst/>
            <a:gdLst/>
            <a:ahLst/>
            <a:cxnLst/>
            <a:rect l="l" t="t" r="r" b="b"/>
            <a:pathLst>
              <a:path w="4731958" h="4018221">
                <a:moveTo>
                  <a:pt x="0" y="4018221"/>
                </a:moveTo>
                <a:lnTo>
                  <a:pt x="4731958" y="4018221"/>
                </a:lnTo>
                <a:lnTo>
                  <a:pt x="4731958" y="0"/>
                </a:lnTo>
                <a:lnTo>
                  <a:pt x="0" y="0"/>
                </a:lnTo>
                <a:lnTo>
                  <a:pt x="0" y="401822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1382119"/>
            <a:ext cx="5435214" cy="969378"/>
            <a:chOff x="0" y="0"/>
            <a:chExt cx="3090085" cy="3677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90085" cy="367716"/>
            </a:xfrm>
            <a:custGeom>
              <a:avLst/>
              <a:gdLst/>
              <a:ahLst/>
              <a:cxnLst/>
              <a:rect l="l" t="t" r="r" b="b"/>
              <a:pathLst>
                <a:path w="3090085" h="367716">
                  <a:moveTo>
                    <a:pt x="203200" y="0"/>
                  </a:moveTo>
                  <a:lnTo>
                    <a:pt x="3090085" y="0"/>
                  </a:lnTo>
                  <a:lnTo>
                    <a:pt x="2886885" y="367716"/>
                  </a:lnTo>
                  <a:lnTo>
                    <a:pt x="0" y="36771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B1C6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2886885" cy="405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631463" y="4639895"/>
            <a:ext cx="1667915" cy="166791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B0E0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095099" y="5132693"/>
            <a:ext cx="740644" cy="682319"/>
          </a:xfrm>
          <a:custGeom>
            <a:avLst/>
            <a:gdLst/>
            <a:ahLst/>
            <a:cxnLst/>
            <a:rect l="l" t="t" r="r" b="b"/>
            <a:pathLst>
              <a:path w="740644" h="682319">
                <a:moveTo>
                  <a:pt x="0" y="0"/>
                </a:moveTo>
                <a:lnTo>
                  <a:pt x="740644" y="0"/>
                </a:lnTo>
                <a:lnTo>
                  <a:pt x="740644" y="682318"/>
                </a:lnTo>
                <a:lnTo>
                  <a:pt x="0" y="682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209839" y="7503070"/>
            <a:ext cx="3625904" cy="743310"/>
          </a:xfrm>
          <a:custGeom>
            <a:avLst/>
            <a:gdLst/>
            <a:ahLst/>
            <a:cxnLst/>
            <a:rect l="l" t="t" r="r" b="b"/>
            <a:pathLst>
              <a:path w="3625904" h="743310">
                <a:moveTo>
                  <a:pt x="0" y="0"/>
                </a:moveTo>
                <a:lnTo>
                  <a:pt x="3625904" y="0"/>
                </a:lnTo>
                <a:lnTo>
                  <a:pt x="3625904" y="743311"/>
                </a:lnTo>
                <a:lnTo>
                  <a:pt x="0" y="743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795596" y="1490714"/>
            <a:ext cx="1196205" cy="760587"/>
          </a:xfrm>
          <a:custGeom>
            <a:avLst/>
            <a:gdLst/>
            <a:ahLst/>
            <a:cxnLst/>
            <a:rect l="l" t="t" r="r" b="b"/>
            <a:pathLst>
              <a:path w="1196205" h="760587">
                <a:moveTo>
                  <a:pt x="0" y="0"/>
                </a:moveTo>
                <a:lnTo>
                  <a:pt x="1196205" y="0"/>
                </a:lnTo>
                <a:lnTo>
                  <a:pt x="1196205" y="760587"/>
                </a:lnTo>
                <a:lnTo>
                  <a:pt x="0" y="7605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052135" y="1406881"/>
            <a:ext cx="845107" cy="844421"/>
          </a:xfrm>
          <a:custGeom>
            <a:avLst/>
            <a:gdLst/>
            <a:ahLst/>
            <a:cxnLst/>
            <a:rect l="l" t="t" r="r" b="b"/>
            <a:pathLst>
              <a:path w="845107" h="844421">
                <a:moveTo>
                  <a:pt x="0" y="0"/>
                </a:moveTo>
                <a:lnTo>
                  <a:pt x="845107" y="0"/>
                </a:lnTo>
                <a:lnTo>
                  <a:pt x="845107" y="844420"/>
                </a:lnTo>
                <a:lnTo>
                  <a:pt x="0" y="8444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63296" y="2631472"/>
            <a:ext cx="6777678" cy="4112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65"/>
              </a:lnSpc>
            </a:pPr>
            <a:r>
              <a:rPr lang="en-US" sz="7538" b="1">
                <a:solidFill>
                  <a:srgbClr val="990A00"/>
                </a:solidFill>
                <a:latin typeface="Proxima Nova Condensed Heavy"/>
                <a:ea typeface="Proxima Nova Condensed Heavy"/>
                <a:cs typeface="Proxima Nova Condensed Heavy"/>
                <a:sym typeface="Proxima Nova Condensed Heavy"/>
              </a:rPr>
              <a:t>Analisis Kinerja Layanan </a:t>
            </a:r>
            <a:r>
              <a:rPr lang="en-US" sz="7538" b="1">
                <a:solidFill>
                  <a:srgbClr val="0B1C66"/>
                </a:solidFill>
                <a:latin typeface="Proxima Nova Condensed Heavy"/>
                <a:ea typeface="Proxima Nova Condensed Heavy"/>
                <a:cs typeface="Proxima Nova Condensed Heavy"/>
                <a:sym typeface="Proxima Nova Condensed Heavy"/>
              </a:rPr>
              <a:t> &amp; Tingkat Churn Pelanggan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3296" y="6831944"/>
            <a:ext cx="8012819" cy="982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9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Evaluasi Infrastruktur Jaringan &amp; Dukungan Teknis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3296" y="8108405"/>
            <a:ext cx="6076970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Disusun Oleh : Bintang Darma Sakti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3593" y="1662093"/>
            <a:ext cx="3750263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Telkom University Jakarta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812"/>
            <a:ext cx="8408523" cy="5702173"/>
            <a:chOff x="0" y="0"/>
            <a:chExt cx="913797" cy="6836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3797" cy="683648"/>
            </a:xfrm>
            <a:custGeom>
              <a:avLst/>
              <a:gdLst/>
              <a:ahLst/>
              <a:cxnLst/>
              <a:rect l="l" t="t" r="r" b="b"/>
              <a:pathLst>
                <a:path w="913797" h="683648">
                  <a:moveTo>
                    <a:pt x="203200" y="0"/>
                  </a:moveTo>
                  <a:lnTo>
                    <a:pt x="913797" y="0"/>
                  </a:lnTo>
                  <a:lnTo>
                    <a:pt x="710597" y="683648"/>
                  </a:lnTo>
                  <a:lnTo>
                    <a:pt x="0" y="683648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-6145" r="-614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03249" y="5117846"/>
            <a:ext cx="5395674" cy="4140454"/>
            <a:chOff x="0" y="0"/>
            <a:chExt cx="890902" cy="6836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0902" cy="683648"/>
            </a:xfrm>
            <a:custGeom>
              <a:avLst/>
              <a:gdLst/>
              <a:ahLst/>
              <a:cxnLst/>
              <a:rect l="l" t="t" r="r" b="b"/>
              <a:pathLst>
                <a:path w="890902" h="683648">
                  <a:moveTo>
                    <a:pt x="203200" y="0"/>
                  </a:moveTo>
                  <a:lnTo>
                    <a:pt x="890902" y="0"/>
                  </a:lnTo>
                  <a:lnTo>
                    <a:pt x="687702" y="683648"/>
                  </a:lnTo>
                  <a:lnTo>
                    <a:pt x="0" y="683648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l="-7815" r="-7815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515600" y="256682"/>
            <a:ext cx="69342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38"/>
              </a:lnSpc>
            </a:pPr>
            <a:r>
              <a:rPr lang="en-US" sz="5648" b="1" dirty="0">
                <a:solidFill>
                  <a:srgbClr val="0B1C66"/>
                </a:solidFill>
                <a:latin typeface="Proxima Nova Condensed Heavy"/>
                <a:ea typeface="Proxima Nova Condensed Heavy"/>
                <a:cs typeface="Proxima Nova Condensed Heavy"/>
                <a:sym typeface="Proxima Nova Condensed Heavy"/>
              </a:rPr>
              <a:t> LATAR BELAKANG  </a:t>
            </a:r>
          </a:p>
          <a:p>
            <a:pPr algn="ctr">
              <a:lnSpc>
                <a:spcPts val="6438"/>
              </a:lnSpc>
            </a:pPr>
            <a:r>
              <a:rPr lang="en-US" sz="5648" b="1" dirty="0">
                <a:solidFill>
                  <a:srgbClr val="990A00"/>
                </a:solidFill>
                <a:latin typeface="Proxima Nova Condensed Heavy"/>
                <a:ea typeface="Proxima Nova Condensed Heavy"/>
                <a:cs typeface="Proxima Nova Condensed Heavy"/>
                <a:sym typeface="Proxima Nova Condensed Heavy"/>
              </a:rPr>
              <a:t>&amp; </a:t>
            </a:r>
          </a:p>
          <a:p>
            <a:pPr algn="l">
              <a:lnSpc>
                <a:spcPts val="6438"/>
              </a:lnSpc>
            </a:pPr>
            <a:r>
              <a:rPr lang="en-US" sz="5648" b="1" dirty="0">
                <a:solidFill>
                  <a:srgbClr val="990A00"/>
                </a:solidFill>
                <a:latin typeface="Proxima Nova Condensed Heavy"/>
                <a:ea typeface="Proxima Nova Condensed Heavy"/>
                <a:cs typeface="Proxima Nova Condensed Heavy"/>
                <a:sym typeface="Proxima Nova Condensed Heavy"/>
              </a:rPr>
              <a:t>TUJUAN ANALISIS</a:t>
            </a:r>
          </a:p>
        </p:txBody>
      </p:sp>
      <p:sp>
        <p:nvSpPr>
          <p:cNvPr id="7" name="Freeform 7"/>
          <p:cNvSpPr/>
          <p:nvPr/>
        </p:nvSpPr>
        <p:spPr>
          <a:xfrm>
            <a:off x="15267965" y="3453060"/>
            <a:ext cx="1148658" cy="730355"/>
          </a:xfrm>
          <a:custGeom>
            <a:avLst/>
            <a:gdLst/>
            <a:ahLst/>
            <a:cxnLst/>
            <a:rect l="l" t="t" r="r" b="b"/>
            <a:pathLst>
              <a:path w="1148658" h="730355">
                <a:moveTo>
                  <a:pt x="0" y="0"/>
                </a:moveTo>
                <a:lnTo>
                  <a:pt x="1148659" y="0"/>
                </a:lnTo>
                <a:lnTo>
                  <a:pt x="1148659" y="730356"/>
                </a:lnTo>
                <a:lnTo>
                  <a:pt x="0" y="730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8067779"/>
            <a:ext cx="2600056" cy="533011"/>
          </a:xfrm>
          <a:custGeom>
            <a:avLst/>
            <a:gdLst/>
            <a:ahLst/>
            <a:cxnLst/>
            <a:rect l="l" t="t" r="r" b="b"/>
            <a:pathLst>
              <a:path w="2600056" h="533011">
                <a:moveTo>
                  <a:pt x="0" y="0"/>
                </a:moveTo>
                <a:lnTo>
                  <a:pt x="2600056" y="0"/>
                </a:lnTo>
                <a:lnTo>
                  <a:pt x="2600056" y="533011"/>
                </a:lnTo>
                <a:lnTo>
                  <a:pt x="0" y="5330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462285" y="6730363"/>
            <a:ext cx="819331" cy="828653"/>
          </a:xfrm>
          <a:custGeom>
            <a:avLst/>
            <a:gdLst/>
            <a:ahLst/>
            <a:cxnLst/>
            <a:rect l="l" t="t" r="r" b="b"/>
            <a:pathLst>
              <a:path w="819331" h="828653">
                <a:moveTo>
                  <a:pt x="0" y="0"/>
                </a:moveTo>
                <a:lnTo>
                  <a:pt x="819331" y="0"/>
                </a:lnTo>
                <a:lnTo>
                  <a:pt x="819331" y="828654"/>
                </a:lnTo>
                <a:lnTo>
                  <a:pt x="0" y="828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462285" y="8335267"/>
            <a:ext cx="786251" cy="786251"/>
          </a:xfrm>
          <a:custGeom>
            <a:avLst/>
            <a:gdLst/>
            <a:ahLst/>
            <a:cxnLst/>
            <a:rect l="l" t="t" r="r" b="b"/>
            <a:pathLst>
              <a:path w="786251" h="786251">
                <a:moveTo>
                  <a:pt x="0" y="0"/>
                </a:moveTo>
                <a:lnTo>
                  <a:pt x="786251" y="0"/>
                </a:lnTo>
                <a:lnTo>
                  <a:pt x="786251" y="786251"/>
                </a:lnTo>
                <a:lnTo>
                  <a:pt x="0" y="786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462285" y="4728845"/>
            <a:ext cx="984140" cy="984140"/>
          </a:xfrm>
          <a:custGeom>
            <a:avLst/>
            <a:gdLst/>
            <a:ahLst/>
            <a:cxnLst/>
            <a:rect l="l" t="t" r="r" b="b"/>
            <a:pathLst>
              <a:path w="984140" h="984140">
                <a:moveTo>
                  <a:pt x="0" y="0"/>
                </a:moveTo>
                <a:lnTo>
                  <a:pt x="984140" y="0"/>
                </a:lnTo>
                <a:lnTo>
                  <a:pt x="984140" y="984140"/>
                </a:lnTo>
                <a:lnTo>
                  <a:pt x="0" y="984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806059" y="4690745"/>
            <a:ext cx="6610565" cy="1553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0"/>
              </a:lnSpc>
            </a:pP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Menganalisis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dataset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operasional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layanan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telekomunikasi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(&gt;7.000 baris data) yang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mencakup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metrik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performa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infrastruktur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jaringan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dan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aktivitas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dukungan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teknis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06059" y="6692263"/>
            <a:ext cx="6610565" cy="1160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0"/>
              </a:lnSpc>
            </a:pP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Mengidentifikasi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akar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masalah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teknis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operasional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yang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memicu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tingginya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tingkat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churn (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pembatalan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layanan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) </a:t>
            </a:r>
            <a:r>
              <a:rPr lang="en-US" sz="2221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pelanggan</a:t>
            </a:r>
            <a:r>
              <a:rPr lang="en-US" sz="222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6059" y="8226243"/>
            <a:ext cx="6610565" cy="1160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0"/>
              </a:lnSpc>
            </a:pPr>
            <a:r>
              <a:rPr lang="en-US" sz="222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Memberikan rekomendasi strategis berbasis data untuk meningkatkan retensi dan stabilitas layanan infrastruktur.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3473" y="9348941"/>
            <a:ext cx="6610565" cy="76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0"/>
              </a:lnSpc>
            </a:pPr>
            <a:r>
              <a:rPr lang="en-US" sz="2221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9" tooltip="https://www.kaggle.com/code/arezoodahesh/customer-churn-with-oversampling-techniques/input"/>
              </a:rPr>
              <a:t>Sumber Data: IBM Telco</a:t>
            </a:r>
            <a:r>
              <a:rPr lang="en-US" sz="2221" b="1" u="sng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  <a:hlinkClick r:id="rId9" tooltip="https://www.kaggle.com/code/arezoodahesh/customer-churn-with-oversampling-techniques/input"/>
              </a:rPr>
              <a:t> Customer Churn Dataset (Kaggle)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414410"/>
            <a:ext cx="6292537" cy="1714990"/>
            <a:chOff x="0" y="0"/>
            <a:chExt cx="3203398" cy="8730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03398" cy="873065"/>
            </a:xfrm>
            <a:custGeom>
              <a:avLst/>
              <a:gdLst/>
              <a:ahLst/>
              <a:cxnLst/>
              <a:rect l="l" t="t" r="r" b="b"/>
              <a:pathLst>
                <a:path w="3203398" h="873065">
                  <a:moveTo>
                    <a:pt x="203200" y="0"/>
                  </a:moveTo>
                  <a:lnTo>
                    <a:pt x="3203398" y="0"/>
                  </a:lnTo>
                  <a:lnTo>
                    <a:pt x="3000198" y="873065"/>
                  </a:lnTo>
                  <a:lnTo>
                    <a:pt x="0" y="87306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B1C6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000198" cy="911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26558" y="8195344"/>
            <a:ext cx="5478766" cy="1695520"/>
            <a:chOff x="0" y="0"/>
            <a:chExt cx="3203398" cy="9913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03398" cy="991359"/>
            </a:xfrm>
            <a:custGeom>
              <a:avLst/>
              <a:gdLst/>
              <a:ahLst/>
              <a:cxnLst/>
              <a:rect l="l" t="t" r="r" b="b"/>
              <a:pathLst>
                <a:path w="3203398" h="991359">
                  <a:moveTo>
                    <a:pt x="203200" y="0"/>
                  </a:moveTo>
                  <a:lnTo>
                    <a:pt x="3203398" y="0"/>
                  </a:lnTo>
                  <a:lnTo>
                    <a:pt x="3000198" y="991359"/>
                  </a:lnTo>
                  <a:lnTo>
                    <a:pt x="0" y="99135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B0E0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000198" cy="1029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10800000" flipH="1">
            <a:off x="0" y="0"/>
            <a:ext cx="4413115" cy="3924300"/>
          </a:xfrm>
          <a:custGeom>
            <a:avLst/>
            <a:gdLst/>
            <a:ahLst/>
            <a:cxnLst/>
            <a:rect l="l" t="t" r="r" b="b"/>
            <a:pathLst>
              <a:path w="5437139" h="4617037">
                <a:moveTo>
                  <a:pt x="5437138" y="0"/>
                </a:moveTo>
                <a:lnTo>
                  <a:pt x="0" y="0"/>
                </a:lnTo>
                <a:lnTo>
                  <a:pt x="0" y="4617037"/>
                </a:lnTo>
                <a:lnTo>
                  <a:pt x="5437138" y="4617037"/>
                </a:lnTo>
                <a:lnTo>
                  <a:pt x="543713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64254" y="3444568"/>
            <a:ext cx="7254846" cy="4326108"/>
          </a:xfrm>
          <a:custGeom>
            <a:avLst/>
            <a:gdLst/>
            <a:ahLst/>
            <a:cxnLst/>
            <a:rect l="l" t="t" r="r" b="b"/>
            <a:pathLst>
              <a:path w="7254846" h="4326108">
                <a:moveTo>
                  <a:pt x="0" y="0"/>
                </a:moveTo>
                <a:lnTo>
                  <a:pt x="7254845" y="0"/>
                </a:lnTo>
                <a:lnTo>
                  <a:pt x="7254845" y="4326108"/>
                </a:lnTo>
                <a:lnTo>
                  <a:pt x="0" y="4326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538895" y="3265900"/>
            <a:ext cx="7854094" cy="4683444"/>
          </a:xfrm>
          <a:custGeom>
            <a:avLst/>
            <a:gdLst/>
            <a:ahLst/>
            <a:cxnLst/>
            <a:rect l="l" t="t" r="r" b="b"/>
            <a:pathLst>
              <a:path w="7854094" h="4683444">
                <a:moveTo>
                  <a:pt x="0" y="0"/>
                </a:moveTo>
                <a:lnTo>
                  <a:pt x="7854094" y="0"/>
                </a:lnTo>
                <a:lnTo>
                  <a:pt x="7854094" y="4683444"/>
                </a:lnTo>
                <a:lnTo>
                  <a:pt x="0" y="4683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464254" y="8490221"/>
            <a:ext cx="4589985" cy="15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Pelanggan yang tidak memiliki layanan Tech Support memiliki kecenderungan paling besar untuk meninggalkan layanan.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70949" y="8490221"/>
            <a:ext cx="4589985" cy="15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Tingkat churn (pembatalan layanan) tertinggi terjadi pada infrastruktur Fiber Optic.</a:t>
            </a:r>
          </a:p>
          <a:p>
            <a:pPr algn="ctr">
              <a:lnSpc>
                <a:spcPts val="3080"/>
              </a:lnSpc>
            </a:pPr>
            <a:endParaRPr lang="en-US" sz="2200" b="1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121072" y="78836"/>
            <a:ext cx="10166928" cy="275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9"/>
              </a:lnSpc>
            </a:pPr>
            <a:r>
              <a:rPr lang="en-US" sz="9499" b="1">
                <a:solidFill>
                  <a:srgbClr val="990A00"/>
                </a:solidFill>
                <a:latin typeface="Proxima Nova Condensed Heavy"/>
                <a:ea typeface="Proxima Nova Condensed Heavy"/>
                <a:cs typeface="Proxima Nova Condensed Heavy"/>
                <a:sym typeface="Proxima Nova Condensed Heavy"/>
              </a:rPr>
              <a:t>TEMUAN UTAMA</a:t>
            </a:r>
            <a:r>
              <a:rPr lang="en-US" sz="9499" b="1">
                <a:solidFill>
                  <a:srgbClr val="0B1C66"/>
                </a:solidFill>
                <a:latin typeface="Proxima Nova Condensed Heavy"/>
                <a:ea typeface="Proxima Nova Condensed Heavy"/>
                <a:cs typeface="Proxima Nova Condensed Heavy"/>
                <a:sym typeface="Proxima Nova Condensed Heavy"/>
              </a:rPr>
              <a:t> KINERJA LAYANAN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02756" y="210702"/>
            <a:ext cx="5842534" cy="3709885"/>
            <a:chOff x="0" y="0"/>
            <a:chExt cx="1109944" cy="7047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9944" cy="704791"/>
            </a:xfrm>
            <a:custGeom>
              <a:avLst/>
              <a:gdLst/>
              <a:ahLst/>
              <a:cxnLst/>
              <a:rect l="l" t="t" r="r" b="b"/>
              <a:pathLst>
                <a:path w="1109944" h="704791">
                  <a:moveTo>
                    <a:pt x="0" y="0"/>
                  </a:moveTo>
                  <a:lnTo>
                    <a:pt x="1109944" y="0"/>
                  </a:lnTo>
                  <a:lnTo>
                    <a:pt x="1109944" y="704791"/>
                  </a:lnTo>
                  <a:lnTo>
                    <a:pt x="0" y="704791"/>
                  </a:lnTo>
                  <a:close/>
                </a:path>
              </a:pathLst>
            </a:custGeom>
            <a:blipFill>
              <a:blip r:embed="rId2"/>
              <a:stretch>
                <a:fillRect l="-7988" r="-7988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flipH="1" flipV="1">
            <a:off x="14412473" y="0"/>
            <a:ext cx="3931073" cy="2021748"/>
          </a:xfrm>
          <a:custGeom>
            <a:avLst/>
            <a:gdLst/>
            <a:ahLst/>
            <a:cxnLst/>
            <a:rect l="l" t="t" r="r" b="b"/>
            <a:pathLst>
              <a:path w="4882854" h="2575706">
                <a:moveTo>
                  <a:pt x="4882855" y="2575706"/>
                </a:moveTo>
                <a:lnTo>
                  <a:pt x="0" y="2575706"/>
                </a:lnTo>
                <a:lnTo>
                  <a:pt x="0" y="0"/>
                </a:lnTo>
                <a:lnTo>
                  <a:pt x="4882855" y="0"/>
                </a:lnTo>
                <a:lnTo>
                  <a:pt x="4882855" y="257570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5" name="Freeform 5"/>
          <p:cNvSpPr/>
          <p:nvPr/>
        </p:nvSpPr>
        <p:spPr>
          <a:xfrm>
            <a:off x="1028700" y="1028700"/>
            <a:ext cx="1010321" cy="642396"/>
          </a:xfrm>
          <a:custGeom>
            <a:avLst/>
            <a:gdLst/>
            <a:ahLst/>
            <a:cxnLst/>
            <a:rect l="l" t="t" r="r" b="b"/>
            <a:pathLst>
              <a:path w="1010321" h="642396">
                <a:moveTo>
                  <a:pt x="0" y="0"/>
                </a:moveTo>
                <a:lnTo>
                  <a:pt x="1010321" y="0"/>
                </a:lnTo>
                <a:lnTo>
                  <a:pt x="1010321" y="642396"/>
                </a:lnTo>
                <a:lnTo>
                  <a:pt x="0" y="642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84022" y="5418014"/>
            <a:ext cx="4092356" cy="4114800"/>
          </a:xfrm>
          <a:custGeom>
            <a:avLst/>
            <a:gdLst/>
            <a:ahLst/>
            <a:cxnLst/>
            <a:rect l="l" t="t" r="r" b="b"/>
            <a:pathLst>
              <a:path w="4092356" h="4114800">
                <a:moveTo>
                  <a:pt x="0" y="0"/>
                </a:moveTo>
                <a:lnTo>
                  <a:pt x="4092356" y="0"/>
                </a:lnTo>
                <a:lnTo>
                  <a:pt x="40923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300563" y="4928746"/>
            <a:ext cx="1043323" cy="690412"/>
            <a:chOff x="0" y="0"/>
            <a:chExt cx="960733" cy="6357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60733" cy="635759"/>
            </a:xfrm>
            <a:custGeom>
              <a:avLst/>
              <a:gdLst/>
              <a:ahLst/>
              <a:cxnLst/>
              <a:rect l="l" t="t" r="r" b="b"/>
              <a:pathLst>
                <a:path w="960733" h="635759">
                  <a:moveTo>
                    <a:pt x="203200" y="0"/>
                  </a:moveTo>
                  <a:lnTo>
                    <a:pt x="960733" y="0"/>
                  </a:lnTo>
                  <a:lnTo>
                    <a:pt x="757533" y="635759"/>
                  </a:lnTo>
                  <a:lnTo>
                    <a:pt x="0" y="63575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B0E0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757533" cy="673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3668638" y="5119956"/>
            <a:ext cx="307174" cy="354261"/>
          </a:xfrm>
          <a:custGeom>
            <a:avLst/>
            <a:gdLst/>
            <a:ahLst/>
            <a:cxnLst/>
            <a:rect l="l" t="t" r="r" b="b"/>
            <a:pathLst>
              <a:path w="307174" h="354261">
                <a:moveTo>
                  <a:pt x="0" y="0"/>
                </a:moveTo>
                <a:lnTo>
                  <a:pt x="307173" y="0"/>
                </a:lnTo>
                <a:lnTo>
                  <a:pt x="307173" y="354261"/>
                </a:lnTo>
                <a:lnTo>
                  <a:pt x="0" y="354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331672" y="5703115"/>
            <a:ext cx="3099227" cy="342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Audit Infrastruktur Preventif</a:t>
            </a:r>
          </a:p>
          <a:p>
            <a:pPr algn="l">
              <a:lnSpc>
                <a:spcPts val="2700"/>
              </a:lnSpc>
            </a:pPr>
            <a:endParaRPr lang="en-US" sz="2000" b="1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2700"/>
              </a:lnSpc>
            </a:pPr>
            <a:r>
              <a:rPr lang="en-US" sz="2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Melakukan investigasi teknis secara menyeluruh pada area jaringan Fiber Optic untuk menekan latensi dan gangguan fisik (seperti FO Cut).</a:t>
            </a:r>
          </a:p>
        </p:txBody>
      </p:sp>
      <p:sp>
        <p:nvSpPr>
          <p:cNvPr id="12" name="Freeform 12"/>
          <p:cNvSpPr/>
          <p:nvPr/>
        </p:nvSpPr>
        <p:spPr>
          <a:xfrm>
            <a:off x="6889778" y="5450674"/>
            <a:ext cx="4092356" cy="4114800"/>
          </a:xfrm>
          <a:custGeom>
            <a:avLst/>
            <a:gdLst/>
            <a:ahLst/>
            <a:cxnLst/>
            <a:rect l="l" t="t" r="r" b="b"/>
            <a:pathLst>
              <a:path w="4092356" h="4114800">
                <a:moveTo>
                  <a:pt x="0" y="0"/>
                </a:moveTo>
                <a:lnTo>
                  <a:pt x="4092356" y="0"/>
                </a:lnTo>
                <a:lnTo>
                  <a:pt x="40923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8414294" y="4960928"/>
            <a:ext cx="1043323" cy="690412"/>
            <a:chOff x="0" y="0"/>
            <a:chExt cx="960733" cy="63575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0733" cy="635759"/>
            </a:xfrm>
            <a:custGeom>
              <a:avLst/>
              <a:gdLst/>
              <a:ahLst/>
              <a:cxnLst/>
              <a:rect l="l" t="t" r="r" b="b"/>
              <a:pathLst>
                <a:path w="960733" h="635759">
                  <a:moveTo>
                    <a:pt x="203200" y="0"/>
                  </a:moveTo>
                  <a:lnTo>
                    <a:pt x="960733" y="0"/>
                  </a:lnTo>
                  <a:lnTo>
                    <a:pt x="757533" y="635759"/>
                  </a:lnTo>
                  <a:lnTo>
                    <a:pt x="0" y="63575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B1C6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01600" y="-38100"/>
              <a:ext cx="757533" cy="673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5400000">
            <a:off x="8782369" y="5087297"/>
            <a:ext cx="307174" cy="354261"/>
          </a:xfrm>
          <a:custGeom>
            <a:avLst/>
            <a:gdLst/>
            <a:ahLst/>
            <a:cxnLst/>
            <a:rect l="l" t="t" r="r" b="b"/>
            <a:pathLst>
              <a:path w="307174" h="354261">
                <a:moveTo>
                  <a:pt x="0" y="0"/>
                </a:moveTo>
                <a:lnTo>
                  <a:pt x="307174" y="0"/>
                </a:lnTo>
                <a:lnTo>
                  <a:pt x="307174" y="354261"/>
                </a:lnTo>
                <a:lnTo>
                  <a:pt x="0" y="354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600287" y="5703115"/>
            <a:ext cx="3102469" cy="342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Integrasi Layanan Support</a:t>
            </a:r>
          </a:p>
          <a:p>
            <a:pPr algn="l">
              <a:lnSpc>
                <a:spcPts val="2700"/>
              </a:lnSpc>
            </a:pPr>
            <a:endParaRPr lang="en-US" sz="2000" b="1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2700"/>
              </a:lnSpc>
            </a:pPr>
            <a:r>
              <a:rPr lang="en-US" sz="2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Memberikan bundling layanan Tech Support gratis selama 3 bulan pertama khusus untuk pemasangan Fiber Optic baru guna memastikan stabilitas awal.</a:t>
            </a:r>
          </a:p>
        </p:txBody>
      </p:sp>
      <p:sp>
        <p:nvSpPr>
          <p:cNvPr id="18" name="Freeform 18"/>
          <p:cNvSpPr/>
          <p:nvPr/>
        </p:nvSpPr>
        <p:spPr>
          <a:xfrm>
            <a:off x="12285654" y="5264427"/>
            <a:ext cx="4092356" cy="4114800"/>
          </a:xfrm>
          <a:custGeom>
            <a:avLst/>
            <a:gdLst/>
            <a:ahLst/>
            <a:cxnLst/>
            <a:rect l="l" t="t" r="r" b="b"/>
            <a:pathLst>
              <a:path w="4092356" h="4114800">
                <a:moveTo>
                  <a:pt x="0" y="0"/>
                </a:moveTo>
                <a:lnTo>
                  <a:pt x="4092356" y="0"/>
                </a:lnTo>
                <a:lnTo>
                  <a:pt x="40923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3868209" y="4798294"/>
            <a:ext cx="1043323" cy="690412"/>
            <a:chOff x="0" y="0"/>
            <a:chExt cx="960733" cy="63575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60733" cy="635759"/>
            </a:xfrm>
            <a:custGeom>
              <a:avLst/>
              <a:gdLst/>
              <a:ahLst/>
              <a:cxnLst/>
              <a:rect l="l" t="t" r="r" b="b"/>
              <a:pathLst>
                <a:path w="960733" h="635759">
                  <a:moveTo>
                    <a:pt x="203200" y="0"/>
                  </a:moveTo>
                  <a:lnTo>
                    <a:pt x="960733" y="0"/>
                  </a:lnTo>
                  <a:lnTo>
                    <a:pt x="757533" y="635759"/>
                  </a:lnTo>
                  <a:lnTo>
                    <a:pt x="0" y="63575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B0E03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01600" y="-38100"/>
              <a:ext cx="757533" cy="673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5400000">
            <a:off x="14236283" y="4966370"/>
            <a:ext cx="307174" cy="354261"/>
          </a:xfrm>
          <a:custGeom>
            <a:avLst/>
            <a:gdLst/>
            <a:ahLst/>
            <a:cxnLst/>
            <a:rect l="l" t="t" r="r" b="b"/>
            <a:pathLst>
              <a:path w="307174" h="354261">
                <a:moveTo>
                  <a:pt x="0" y="0"/>
                </a:moveTo>
                <a:lnTo>
                  <a:pt x="307174" y="0"/>
                </a:lnTo>
                <a:lnTo>
                  <a:pt x="307174" y="354260"/>
                </a:lnTo>
                <a:lnTo>
                  <a:pt x="0" y="354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2525284" y="5712640"/>
            <a:ext cx="3613095" cy="3232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1"/>
              </a:lnSpc>
            </a:pPr>
            <a:r>
              <a:rPr lang="en-US" sz="18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Otomatisasi Deteksi Gangguan</a:t>
            </a:r>
          </a:p>
          <a:p>
            <a:pPr algn="l">
              <a:lnSpc>
                <a:spcPts val="2551"/>
              </a:lnSpc>
            </a:pPr>
            <a:endParaRPr lang="en-US" sz="1889" b="1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2551"/>
              </a:lnSpc>
            </a:pPr>
            <a:r>
              <a:rPr lang="en-US" sz="18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Mengimplementasikan sistem AI untuk memonitor anomali pada trafik jaringan secara real-time, sehingga tim Service Operation dapat bertindak sebelum pelanggan menyadari adanya gangguan.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7544" y="2103745"/>
            <a:ext cx="7690805" cy="1986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88"/>
              </a:lnSpc>
            </a:pPr>
            <a:r>
              <a:rPr lang="en-US" sz="6832" b="1">
                <a:solidFill>
                  <a:srgbClr val="0B1C66"/>
                </a:solidFill>
                <a:latin typeface="Proxima Nova Condensed Heavy"/>
                <a:ea typeface="Proxima Nova Condensed Heavy"/>
                <a:cs typeface="Proxima Nova Condensed Heavy"/>
                <a:sym typeface="Proxima Nova Condensed Heavy"/>
              </a:rPr>
              <a:t>SOLUSI STRATEGIS</a:t>
            </a:r>
          </a:p>
          <a:p>
            <a:pPr algn="l">
              <a:lnSpc>
                <a:spcPts val="7788"/>
              </a:lnSpc>
            </a:pPr>
            <a:r>
              <a:rPr lang="en-US" sz="6832" b="1">
                <a:solidFill>
                  <a:srgbClr val="990A00"/>
                </a:solidFill>
                <a:latin typeface="Proxima Nova Condensed Heavy"/>
                <a:ea typeface="Proxima Nova Condensed Heavy"/>
                <a:cs typeface="Proxima Nova Condensed Heavy"/>
                <a:sym typeface="Proxima Nova Condensed Heavy"/>
              </a:rPr>
              <a:t>BERBASIS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hlinkClick r:id="rId2" tooltip="https://www.kaggle.com/code/arezoodahesh/customer-churn-with-oversampling-techniques/input"/>
          </p:cNvPr>
          <p:cNvSpPr/>
          <p:nvPr/>
        </p:nvSpPr>
        <p:spPr>
          <a:xfrm flipH="1">
            <a:off x="-2" y="3695797"/>
            <a:ext cx="18288001" cy="6852884"/>
          </a:xfrm>
          <a:custGeom>
            <a:avLst/>
            <a:gdLst/>
            <a:ahLst/>
            <a:cxnLst/>
            <a:rect l="l" t="t" r="r" b="b"/>
            <a:pathLst>
              <a:path w="19035789" h="6852884">
                <a:moveTo>
                  <a:pt x="19035790" y="0"/>
                </a:moveTo>
                <a:lnTo>
                  <a:pt x="0" y="0"/>
                </a:lnTo>
                <a:lnTo>
                  <a:pt x="0" y="6852884"/>
                </a:lnTo>
                <a:lnTo>
                  <a:pt x="19035790" y="6852884"/>
                </a:lnTo>
                <a:lnTo>
                  <a:pt x="1903579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26980" y="3720597"/>
            <a:ext cx="13834040" cy="2260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29"/>
              </a:lnSpc>
            </a:pPr>
            <a:r>
              <a:rPr lang="en-US" sz="15464" b="1">
                <a:solidFill>
                  <a:srgbClr val="0B1C66"/>
                </a:solidFill>
                <a:latin typeface="Proxima Nova Condensed Heavy"/>
                <a:ea typeface="Proxima Nova Condensed Heavy"/>
                <a:cs typeface="Proxima Nova Condensed Heavy"/>
                <a:sym typeface="Proxima Nova Condensed Heavy"/>
              </a:rPr>
              <a:t>TERIMA </a:t>
            </a:r>
            <a:r>
              <a:rPr lang="en-US" sz="15464" b="1">
                <a:solidFill>
                  <a:srgbClr val="990A00"/>
                </a:solidFill>
                <a:latin typeface="Proxima Nova Condensed Heavy"/>
                <a:ea typeface="Proxima Nova Condensed Heavy"/>
                <a:cs typeface="Proxima Nova Condensed Heavy"/>
                <a:sym typeface="Proxima Nova Condensed Heavy"/>
              </a:rPr>
              <a:t>KASIH</a:t>
            </a:r>
          </a:p>
        </p:txBody>
      </p:sp>
      <p:sp>
        <p:nvSpPr>
          <p:cNvPr id="4" name="Freeform 4"/>
          <p:cNvSpPr/>
          <p:nvPr/>
        </p:nvSpPr>
        <p:spPr>
          <a:xfrm flipV="1">
            <a:off x="0" y="0"/>
            <a:ext cx="4047763" cy="3695796"/>
          </a:xfrm>
          <a:custGeom>
            <a:avLst/>
            <a:gdLst/>
            <a:ahLst/>
            <a:cxnLst/>
            <a:rect l="l" t="t" r="r" b="b"/>
            <a:pathLst>
              <a:path w="4589213" h="3897006">
                <a:moveTo>
                  <a:pt x="0" y="3897007"/>
                </a:moveTo>
                <a:lnTo>
                  <a:pt x="4589213" y="3897007"/>
                </a:lnTo>
                <a:lnTo>
                  <a:pt x="4589213" y="0"/>
                </a:lnTo>
                <a:lnTo>
                  <a:pt x="0" y="0"/>
                </a:lnTo>
                <a:lnTo>
                  <a:pt x="0" y="38970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622296" y="1451964"/>
            <a:ext cx="5665704" cy="869182"/>
            <a:chOff x="0" y="0"/>
            <a:chExt cx="2737210" cy="3677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37210" cy="367716"/>
            </a:xfrm>
            <a:custGeom>
              <a:avLst/>
              <a:gdLst/>
              <a:ahLst/>
              <a:cxnLst/>
              <a:rect l="l" t="t" r="r" b="b"/>
              <a:pathLst>
                <a:path w="2737210" h="367716">
                  <a:moveTo>
                    <a:pt x="203200" y="0"/>
                  </a:moveTo>
                  <a:lnTo>
                    <a:pt x="2737210" y="0"/>
                  </a:lnTo>
                  <a:lnTo>
                    <a:pt x="2534010" y="367716"/>
                  </a:lnTo>
                  <a:lnTo>
                    <a:pt x="0" y="36771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B1C6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534010" cy="405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400000">
            <a:off x="8537435" y="1534779"/>
            <a:ext cx="1213130" cy="771349"/>
          </a:xfrm>
          <a:custGeom>
            <a:avLst/>
            <a:gdLst/>
            <a:ahLst/>
            <a:cxnLst/>
            <a:rect l="l" t="t" r="r" b="b"/>
            <a:pathLst>
              <a:path w="1213130" h="771349">
                <a:moveTo>
                  <a:pt x="0" y="0"/>
                </a:moveTo>
                <a:lnTo>
                  <a:pt x="1213130" y="0"/>
                </a:lnTo>
                <a:lnTo>
                  <a:pt x="1213130" y="771349"/>
                </a:lnTo>
                <a:lnTo>
                  <a:pt x="0" y="771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0" y="7353844"/>
            <a:ext cx="3155200" cy="646816"/>
          </a:xfrm>
          <a:custGeom>
            <a:avLst/>
            <a:gdLst/>
            <a:ahLst/>
            <a:cxnLst/>
            <a:rect l="l" t="t" r="r" b="b"/>
            <a:pathLst>
              <a:path w="3155200" h="646816">
                <a:moveTo>
                  <a:pt x="0" y="0"/>
                </a:moveTo>
                <a:lnTo>
                  <a:pt x="3155200" y="0"/>
                </a:lnTo>
                <a:lnTo>
                  <a:pt x="3155200" y="646816"/>
                </a:lnTo>
                <a:lnTo>
                  <a:pt x="0" y="6468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185888" y="1677640"/>
            <a:ext cx="3750263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Telkom University Jakarta</a:t>
            </a:r>
          </a:p>
        </p:txBody>
      </p:sp>
      <p:sp>
        <p:nvSpPr>
          <p:cNvPr id="11" name="Freeform 11"/>
          <p:cNvSpPr/>
          <p:nvPr/>
        </p:nvSpPr>
        <p:spPr>
          <a:xfrm>
            <a:off x="13248076" y="1498243"/>
            <a:ext cx="845107" cy="844421"/>
          </a:xfrm>
          <a:custGeom>
            <a:avLst/>
            <a:gdLst/>
            <a:ahLst/>
            <a:cxnLst/>
            <a:rect l="l" t="t" r="r" b="b"/>
            <a:pathLst>
              <a:path w="845107" h="844421">
                <a:moveTo>
                  <a:pt x="0" y="0"/>
                </a:moveTo>
                <a:lnTo>
                  <a:pt x="845107" y="0"/>
                </a:lnTo>
                <a:lnTo>
                  <a:pt x="845107" y="844421"/>
                </a:lnTo>
                <a:lnTo>
                  <a:pt x="0" y="8444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205</Words>
  <Application>Microsoft Office PowerPoint</Application>
  <PresentationFormat>Custom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Proxima Nova Condensed Heavy</vt:lpstr>
      <vt:lpstr>Arial</vt:lpstr>
      <vt:lpstr>Open Sauce Bold</vt:lpstr>
      <vt:lpstr>Open Sauce Heavy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Merah Biru Tua dan Putih Modern Analisis Tren Konsumen Presentation</dc:title>
  <cp:lastModifiedBy>USER DELL</cp:lastModifiedBy>
  <cp:revision>2</cp:revision>
  <dcterms:created xsi:type="dcterms:W3CDTF">2006-08-16T00:00:00Z</dcterms:created>
  <dcterms:modified xsi:type="dcterms:W3CDTF">2026-07-02T16:47:36Z</dcterms:modified>
  <dc:identifier>DAHOPxzxikM</dc:identifier>
</cp:coreProperties>
</file>